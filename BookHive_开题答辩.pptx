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377440"/>
            <a:ext cx="393192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BookHive：基于微服务与 AI Agent 的智能图书电商系统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0B8D0"/>
                </a:solidFill>
                <a:latin typeface="Microsoft YaHei"/>
              </a:defRPr>
            </a:pPr>
            <a:r>
              <a:t>毕业设计开题答辩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8D0"/>
                </a:solidFill>
                <a:latin typeface="Microsoft YaHei"/>
              </a:defRPr>
            </a:pPr>
            <a:r>
              <a:t>答辩人：XXX　　　指导教师：XXX　　　2026年3月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539496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Go 微服务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539496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AI Agent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539496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539496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gRPC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8D0"/>
                </a:solidFill>
                <a:latin typeface="Microsoft YaHei"/>
              </a:defRPr>
            </a:pPr>
            <a: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01  选题背景与意义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⬥ 选题背景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8B83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传统图书电商推荐依赖规则和协同过滤，缺乏语义理解能力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8B83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LLM 与 RAG 技术为电商智能化带来新范式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8B83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微服务架构是大型电商系统的工程最佳实践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8B83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AI Agent 可实现对话式购书、智能推荐等创新交互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37160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⬥ 研究意义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8B83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探索 LLM + RAG 在电商推荐场景的落地方案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8B83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实践多 Agent 协作的系统设计模式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8B83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验证 Go 微服务架构在电商领域的可行性与性能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8B83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为传统电商系统的智能化升级提供参考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8D0"/>
                </a:solidFill>
                <a:latin typeface="Microsoft YaHei"/>
              </a:defRPr>
            </a:pPr>
            <a: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02  研究目标与内容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⬥ 研究目标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8D0"/>
                </a:solidFill>
                <a:latin typeface="Microsoft YaHei"/>
              </a:defRPr>
            </a:pPr>
            <a:r>
              <a:t>设计并实现一个基于 Go 微服务架构的图书电商系统，融合多 AI Agent、RAG 检索增强生成、向量语义搜索等技术，实现智能图书推荐、对话式购书助手、阅读偏好分析等功能，构建完整的「搜索-推荐-购买」智能闭环。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2514600" cy="29260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2514600" cy="508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  <a:latin typeface="Microsoft YaHei"/>
              </a:defRPr>
            </a:pPr>
            <a:r>
              <a:t>微服务架构设计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206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8 个独立微服务 + API 网关</a:t>
            </a:r>
            <a:br/>
            <a:r>
              <a:t>gRPC 通信 / Consul 服务发现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3383280"/>
            <a:ext cx="2514600" cy="29260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20439" y="3383280"/>
            <a:ext cx="251460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核心业务实现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206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用户 / 图书 / 库存 / 购物车</a:t>
            </a:r>
            <a:br/>
            <a:r>
              <a:t>订单 / 支付完整业务链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383280"/>
            <a:ext cx="2514600" cy="29260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59" y="3383280"/>
            <a:ext cx="2514600" cy="508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Microsoft YaHei"/>
              </a:defRPr>
            </a:pPr>
            <a:r>
              <a:t>AI 智能模块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4206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多 Agent 协作 / RAG 检索</a:t>
            </a:r>
            <a:br/>
            <a:r>
              <a:t>向量语义搜索 / 智能推荐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383280"/>
            <a:ext cx="2514600" cy="29260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98280" y="3383280"/>
            <a:ext cx="2514600" cy="5080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6576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F43"/>
                </a:solidFill>
                <a:latin typeface="Microsoft YaHei"/>
              </a:defRPr>
            </a:pPr>
            <a:r>
              <a:t>系统集成部署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206240"/>
            <a:ext cx="2103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Docker Compose 一键部署</a:t>
            </a:r>
            <a:br/>
            <a:r>
              <a:t>MySQL / MongoDB / Redis / MQ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8D0"/>
                </a:solidFill>
                <a:latin typeface="Microsoft YaHei"/>
              </a:defRPr>
            </a:pPr>
            <a: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03  系统总体架构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280160"/>
            <a:ext cx="9692640" cy="6400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280160"/>
            <a:ext cx="50800" cy="64008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C63FF"/>
                </a:solidFill>
                <a:latin typeface="Microsoft YaHei"/>
              </a:defRPr>
            </a:pPr>
            <a:r>
              <a:t>客户端层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71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Web / 移动端 / API 调用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03120"/>
            <a:ext cx="9692640" cy="6400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103120"/>
            <a:ext cx="50800" cy="64008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API 网关层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8D0"/>
                </a:solidFill>
                <a:latin typeface="Microsoft YaHei"/>
              </a:defRPr>
            </a:pPr>
            <a:r>
              <a:t>Gin HTTP Gateway  ·  JWT 鉴权  ·  限流  ·  路由转发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971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E696"/>
                </a:solidFill>
                <a:latin typeface="Microsoft YaHei"/>
              </a:defRPr>
            </a:pPr>
            <a:r>
              <a:t>微服务层 (gRPC + Consul)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38328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5643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User</a:t>
            </a:r>
            <a:br/>
            <a:r>
              <a:t>用户服务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:9001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50008" y="338328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5728" y="345643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Book</a:t>
            </a:r>
            <a:br/>
            <a:r>
              <a:t>图书服务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:9003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2736" y="338328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48456" y="345643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Store</a:t>
            </a:r>
            <a:br/>
            <a:r>
              <a:t>门店服务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48456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:9002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55464" y="338328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345643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Inventory</a:t>
            </a:r>
            <a:br/>
            <a:r>
              <a:t>库存服务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:9004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2" y="338328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345643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Cart</a:t>
            </a:r>
            <a:br/>
            <a:r>
              <a:t>购物车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:9005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338328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345643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Order</a:t>
            </a:r>
            <a:br/>
            <a:r>
              <a:t>订单服务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:9006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13648" y="338328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9368" y="345643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Payment</a:t>
            </a:r>
            <a:br/>
            <a:r>
              <a:t>支付服务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59368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:9007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66376" y="3383280"/>
            <a:ext cx="1097280" cy="10058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2096" y="3456432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AI</a:t>
            </a:r>
            <a:br/>
            <a:r>
              <a:t>AI 服务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12096" y="40690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:9008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709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F43"/>
                </a:solidFill>
                <a:latin typeface="Microsoft YaHei"/>
              </a:defRPr>
            </a:pPr>
            <a:r>
              <a:t>基础设施层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074920"/>
            <a:ext cx="1280160" cy="8686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5138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MySQL 8.0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5504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用户/订单/库存/支付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23744" y="5074920"/>
            <a:ext cx="1280160" cy="8686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96896" y="5138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MongoDB 7.0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6896" y="5504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图书数据/会话记录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50208" y="5074920"/>
            <a:ext cx="1280160" cy="8686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5138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Redis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23360" y="5504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购物车/缓存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76672" y="5074920"/>
            <a:ext cx="1280160" cy="8686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49824" y="5138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RabbitMQ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9824" y="5504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支付事件/异步消息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03136" y="5074920"/>
            <a:ext cx="1280160" cy="8686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76288" y="5138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Elasticsearch 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504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图书全文搜索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229600" y="5074920"/>
            <a:ext cx="1280160" cy="8686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02752" y="5138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Milvus 2.4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5504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向量语义检索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56063" y="5074920"/>
            <a:ext cx="1280160" cy="8686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29215" y="51389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F43"/>
                </a:solidFill>
                <a:latin typeface="Microsoft YaHei"/>
              </a:defRPr>
            </a:pPr>
            <a:r>
              <a:t>Consul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29215" y="55046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0B8D0"/>
                </a:solidFill>
                <a:latin typeface="Microsoft YaHei"/>
              </a:defRPr>
            </a:pPr>
            <a:r>
              <a:t>服务发现/配置中心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8D0"/>
                </a:solidFill>
                <a:latin typeface="Microsoft YaHei"/>
              </a:defRPr>
            </a:pPr>
            <a: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04  AI 智能模块设计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⬥ 多 Agent 协作架构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Librarian 图书管理员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414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对话式推荐与购买引导，配备 6 个工具</a:t>
            </a:r>
            <a:br/>
            <a:r>
              <a:t>(搜索/详情/库存/相似书/订单/加购)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535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Microsoft YaHei"/>
              </a:defRPr>
            </a:pPr>
            <a:r>
              <a:t>Recommender 推荐师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基于 RAG + 购买历史生成结构化推荐列表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581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Microsoft YaHei"/>
              </a:defRPr>
            </a:pPr>
            <a:r>
              <a:t>Summarizer 摘要师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5079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生成书籍摘要、主题、目标读者分析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5628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SmartSearch 搜索师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85546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自然语言意图解析 → 精确搜索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67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9D"/>
                </a:solidFill>
                <a:latin typeface="Microsoft YaHei"/>
              </a:defRPr>
            </a:pPr>
            <a:r>
              <a:t>TasteAnalyzer 偏好分析师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601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基于购买历史分析用户阅读偏好画像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5120640" cy="493776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⬥ RAG 检索增强生成流程</a:t>
            </a:r>
          </a:p>
        </p:txBody>
      </p:sp>
      <p:sp>
        <p:nvSpPr>
          <p:cNvPr id="18" name="Oval 17"/>
          <p:cNvSpPr/>
          <p:nvPr/>
        </p:nvSpPr>
        <p:spPr>
          <a:xfrm>
            <a:off x="6675120" y="2148840"/>
            <a:ext cx="320040" cy="32004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130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用户查询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130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接收自然语言问题</a:t>
            </a:r>
          </a:p>
        </p:txBody>
      </p:sp>
      <p:sp>
        <p:nvSpPr>
          <p:cNvPr id="21" name="Oval 20"/>
          <p:cNvSpPr/>
          <p:nvPr/>
        </p:nvSpPr>
        <p:spPr>
          <a:xfrm>
            <a:off x="6675120" y="2834640"/>
            <a:ext cx="320040" cy="32004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2816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向量化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8163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OpenAI text-embedding-3-small 生成向量</a:t>
            </a:r>
          </a:p>
        </p:txBody>
      </p:sp>
      <p:sp>
        <p:nvSpPr>
          <p:cNvPr id="24" name="Oval 23"/>
          <p:cNvSpPr/>
          <p:nvPr/>
        </p:nvSpPr>
        <p:spPr>
          <a:xfrm>
            <a:off x="6675120" y="3520440"/>
            <a:ext cx="320040" cy="32004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5021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语义检索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5021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Milvus HNSW 索引 ANN 近邻搜索</a:t>
            </a:r>
          </a:p>
        </p:txBody>
      </p:sp>
      <p:sp>
        <p:nvSpPr>
          <p:cNvPr id="27" name="Oval 26"/>
          <p:cNvSpPr/>
          <p:nvPr/>
        </p:nvSpPr>
        <p:spPr>
          <a:xfrm>
            <a:off x="6675120" y="4206240"/>
            <a:ext cx="320040" cy="32004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1879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库存增强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41879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批量校验库存状态，标注可用性</a:t>
            </a:r>
          </a:p>
        </p:txBody>
      </p:sp>
      <p:sp>
        <p:nvSpPr>
          <p:cNvPr id="30" name="Oval 29"/>
          <p:cNvSpPr/>
          <p:nvPr/>
        </p:nvSpPr>
        <p:spPr>
          <a:xfrm>
            <a:off x="6675120" y="4892040"/>
            <a:ext cx="320040" cy="32004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8737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上下文注入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48737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检索结果 + 会话历史 → Agent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5577840"/>
            <a:ext cx="320040" cy="320040"/>
          </a:xfrm>
          <a:prstGeom prst="ellipse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B1F3B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559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LLM 生成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555955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8D0"/>
                </a:solidFill>
                <a:latin typeface="Microsoft YaHei"/>
              </a:defRPr>
            </a:pPr>
            <a:r>
              <a:t>GPT-4o 结合上下文生成响应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8D0"/>
                </a:solidFill>
                <a:latin typeface="Microsoft YaHei"/>
              </a:defRPr>
            </a:pPr>
            <a: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05  关键技术方案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47548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60320" cy="508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C63FF"/>
                </a:solidFill>
                <a:latin typeface="Microsoft YaHei"/>
              </a:defRPr>
            </a:pPr>
            <a:r>
              <a:t>微服务通信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6C63FF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gRPC + Protobuf 高性能序列化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6C63FF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Consul 服务注册与发现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6C63FF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API Gateway 统一入口与限流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371600"/>
            <a:ext cx="2560320" cy="47548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1371600"/>
            <a:ext cx="2560320" cy="50800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2FF"/>
                </a:solidFill>
                <a:latin typeface="Microsoft YaHei"/>
              </a:defRPr>
            </a:pPr>
            <a:r>
              <a:t>数据存储策略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2860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MySQL：事务型数据 (用户/订单/库存)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MongoDB：文档型数据 (图书/会话)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Redis：购物车 + 热点缓存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371600"/>
            <a:ext cx="2560320" cy="47548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2560320" cy="50800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59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E696"/>
                </a:solidFill>
                <a:latin typeface="Microsoft YaHei"/>
              </a:defRPr>
            </a:pPr>
            <a:r>
              <a:t>搜索与推荐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2860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Elasticsearch 全文检索 + 降级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Milvus 向量 ANN 语义搜索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RAG 增强 + 库存感知推荐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371600"/>
            <a:ext cx="2560320" cy="475488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371600"/>
            <a:ext cx="2560320" cy="5080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45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9F43"/>
                </a:solidFill>
                <a:latin typeface="Microsoft YaHei"/>
              </a:defRPr>
            </a:pPr>
            <a:r>
              <a:t>业务流程保障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86000"/>
            <a:ext cx="2103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RabbitMQ 异步事件驱动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库存锁机制防止超卖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FF9F43"/>
                </a:solidFill>
                <a:latin typeface="Microsoft YaHei"/>
              </a:rPr>
              <a:t>●  </a:t>
            </a:r>
            <a:r>
              <a:rPr sz="1400">
                <a:solidFill>
                  <a:srgbClr val="B0B8D0"/>
                </a:solidFill>
                <a:latin typeface="Microsoft YaHei"/>
              </a:rPr>
              <a:t>支付→扣减最终一致性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8D0"/>
                </a:solidFill>
                <a:latin typeface="Microsoft YaHei"/>
              </a:defRPr>
            </a:pPr>
            <a: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06  进度安排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时间阶段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月份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主要任务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交付物 / 里程碑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698480" cy="621792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50800" cy="621792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48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第 1-2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148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需求分析与系统设计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完成架构设计、数据库设计、接口定义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24912"/>
            <a:ext cx="10698480" cy="621792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24912"/>
            <a:ext cx="50800" cy="621792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620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第 3-5 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620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3-4月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2862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核心业务开发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8620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用户/图书/库存/购物车/订单/支付服务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38144"/>
            <a:ext cx="10698480" cy="621792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438144"/>
            <a:ext cx="50800" cy="621792"/>
          </a:xfrm>
          <a:prstGeom prst="rect">
            <a:avLst/>
          </a:prstGeom>
          <a:solidFill>
            <a:srgbClr val="00E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57530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第 6-7 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5753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4月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35753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AI 模块开发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57530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多 Agent / RAG / 向量搜索 / 智能推荐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151376"/>
            <a:ext cx="10698480" cy="621792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151376"/>
            <a:ext cx="50800" cy="621792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2885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第 8-9 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2885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5月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28853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系统集成与测试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28853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联调测试、性能优化、容器化部署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864608"/>
            <a:ext cx="10698480" cy="621792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864608"/>
            <a:ext cx="50800" cy="621792"/>
          </a:xfrm>
          <a:prstGeom prst="rect">
            <a:avLst/>
          </a:prstGeom>
          <a:solidFill>
            <a:srgbClr val="FF6B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00176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第 10-11 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50017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5月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500176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论文撰写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5001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毕业论文撰写与修改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577840"/>
            <a:ext cx="10698480" cy="621792"/>
          </a:xfrm>
          <a:prstGeom prst="roundRect">
            <a:avLst>
              <a:gd name="adj" fmla="val 5000"/>
            </a:avLst>
          </a:prstGeom>
          <a:solidFill>
            <a:srgbClr val="1B1F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577840"/>
            <a:ext cx="50800" cy="621792"/>
          </a:xfrm>
          <a:prstGeom prst="rect">
            <a:avLst/>
          </a:prstGeom>
          <a:solidFill>
            <a:srgbClr val="8B8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715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第 12 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715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6月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答辩准备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8D0"/>
                </a:solidFill>
                <a:latin typeface="Microsoft YaHei"/>
              </a:defRPr>
            </a:pPr>
            <a:r>
              <a:t>系统演示与答辩准备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8D0"/>
                </a:solidFill>
                <a:latin typeface="Microsoft YaHei"/>
              </a:defRPr>
            </a:pPr>
            <a: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07  预期成果与总结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37744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⬥ 预期成果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一套完整的 Go 微服务图书电商系统（8 个微服务 + API 网关）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基于多 Agent + RAG 的智能推荐与对话购书功能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覆盖「搜索 → 推荐 → 加购 → 下单 → 支付」完整业务闭环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D2FF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Docker Compose 一键部署方案及完整的系统文档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10698480" cy="2286000"/>
          </a:xfrm>
          <a:prstGeom prst="roundRect">
            <a:avLst>
              <a:gd name="adj" fmla="val 5000"/>
            </a:avLst>
          </a:prstGeom>
          <a:solidFill>
            <a:srgbClr val="2429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60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E696"/>
                </a:solidFill>
                <a:latin typeface="Microsoft YaHei"/>
              </a:defRPr>
            </a:pPr>
            <a:r>
              <a:t>⬥ 主要创新点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多 Agent 分工协作：5 个专用 Agent 各司其职，覆盖推荐/对话/摘要/搜索/偏好分析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库存感知 RAG：向量语义检索结果实时结合库存状态，避免推荐无货商品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000">
                <a:solidFill>
                  <a:srgbClr val="00E696"/>
                </a:solidFill>
                <a:latin typeface="Microsoft YaHei"/>
              </a:rPr>
              <a:t>●  </a:t>
            </a:r>
            <a:r>
              <a:rPr sz="1500">
                <a:solidFill>
                  <a:srgbClr val="B0B8D0"/>
                </a:solidFill>
                <a:latin typeface="Microsoft YaHei"/>
              </a:rPr>
              <a:t>Polyglot Persistence：MySQL + MongoDB + Redis + ES + Milvus 按场景选型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83FF"/>
                </a:solidFill>
                <a:latin typeface="Microsoft YaHei"/>
              </a:defRPr>
            </a:pPr>
            <a:r>
              <a:t>谢谢各位老师！请批评指正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8D0"/>
                </a:solidFill>
                <a:latin typeface="Microsoft YaHei"/>
              </a:defRPr>
            </a:pPr>
            <a: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