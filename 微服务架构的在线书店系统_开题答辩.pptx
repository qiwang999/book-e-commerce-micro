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2468880"/>
            <a:ext cx="4846320" cy="38100"/>
          </a:xfrm>
          <a:prstGeom prst="rect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微服务架构的在线书店系统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0B8D0"/>
                </a:solidFill>
                <a:latin typeface="Microsoft YaHei"/>
              </a:defRPr>
            </a:pPr>
            <a:r>
              <a:t>开题答辩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8D0"/>
                </a:solidFill>
                <a:latin typeface="Microsoft YaHei"/>
              </a:defRPr>
            </a:pPr>
            <a:r>
              <a:t>答辩人：XXX　　指导教师：XXX　　2026年3月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07890"/>
                </a:solidFill>
                <a:latin typeface="Microsoft YaHei"/>
              </a:defRPr>
            </a:pPr>
            <a:r>
              <a:t>1/8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01  技术选型与架构方案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560320" cy="475488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560320" cy="50800"/>
          </a:xfrm>
          <a:prstGeom prst="rect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63FF"/>
                </a:solidFill>
                <a:latin typeface="Microsoft YaHei"/>
              </a:defRPr>
            </a:pPr>
            <a:r>
              <a:t>语言与框架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2103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900">
                <a:solidFill>
                  <a:srgbClr val="6C63FF"/>
                </a:solidFill>
                <a:latin typeface="Microsoft YaHei"/>
              </a:rPr>
              <a:t>●  </a:t>
            </a:r>
            <a:r>
              <a:rPr sz="1300">
                <a:solidFill>
                  <a:srgbClr val="B0B8D0"/>
                </a:solidFill>
                <a:latin typeface="Microsoft YaHei"/>
              </a:rPr>
              <a:t>Go 1.24 + go-micro v4 微服务框架</a:t>
            </a:r>
          </a:p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900">
                <a:solidFill>
                  <a:srgbClr val="6C63FF"/>
                </a:solidFill>
                <a:latin typeface="Microsoft YaHei"/>
              </a:rPr>
              <a:t>●  </a:t>
            </a:r>
            <a:r>
              <a:rPr sz="1300">
                <a:solidFill>
                  <a:srgbClr val="B0B8D0"/>
                </a:solidFill>
                <a:latin typeface="Microsoft YaHei"/>
              </a:rPr>
              <a:t>Gin HTTP 框架（API 网关）</a:t>
            </a:r>
          </a:p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900">
                <a:solidFill>
                  <a:srgbClr val="6C63FF"/>
                </a:solidFill>
                <a:latin typeface="Microsoft YaHei"/>
              </a:rPr>
              <a:t>●  </a:t>
            </a:r>
            <a:r>
              <a:rPr sz="1300">
                <a:solidFill>
                  <a:srgbClr val="B0B8D0"/>
                </a:solidFill>
                <a:latin typeface="Microsoft YaHei"/>
              </a:rPr>
              <a:t>Protobuf IDL + gRPC 服务通信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39" y="1371600"/>
            <a:ext cx="2560320" cy="475488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0439" y="1371600"/>
            <a:ext cx="2560320" cy="5080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1645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Microsoft YaHei"/>
              </a:defRPr>
            </a:pPr>
            <a:r>
              <a:t>服务治理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286000"/>
            <a:ext cx="2103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900">
                <a:solidFill>
                  <a:srgbClr val="00D2FF"/>
                </a:solidFill>
                <a:latin typeface="Microsoft YaHei"/>
              </a:rPr>
              <a:t>●  </a:t>
            </a:r>
            <a:r>
              <a:rPr sz="1300">
                <a:solidFill>
                  <a:srgbClr val="B0B8D0"/>
                </a:solidFill>
                <a:latin typeface="Microsoft YaHei"/>
              </a:rPr>
              <a:t>Consul 服务注册/发现/健康检查</a:t>
            </a:r>
          </a:p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900">
                <a:solidFill>
                  <a:srgbClr val="00D2FF"/>
                </a:solidFill>
                <a:latin typeface="Microsoft YaHei"/>
              </a:rPr>
              <a:t>●  </a:t>
            </a:r>
            <a:r>
              <a:rPr sz="1300">
                <a:solidFill>
                  <a:srgbClr val="B0B8D0"/>
                </a:solidFill>
                <a:latin typeface="Microsoft YaHei"/>
              </a:rPr>
              <a:t>API Gateway：JWT 鉴权 + 令牌桶限流</a:t>
            </a:r>
          </a:p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900">
                <a:solidFill>
                  <a:srgbClr val="00D2FF"/>
                </a:solidFill>
                <a:latin typeface="Microsoft YaHei"/>
              </a:rPr>
              <a:t>●  </a:t>
            </a:r>
            <a:r>
              <a:rPr sz="1300">
                <a:solidFill>
                  <a:srgbClr val="B0B8D0"/>
                </a:solidFill>
                <a:latin typeface="Microsoft YaHei"/>
              </a:rPr>
              <a:t>8 个微服务按业务领域拆分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371600"/>
            <a:ext cx="2560320" cy="475488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59" y="1371600"/>
            <a:ext cx="2560320" cy="50800"/>
          </a:xfrm>
          <a:prstGeom prst="rect">
            <a:avLst/>
          </a:prstGeom>
          <a:solidFill>
            <a:srgbClr val="00E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59" y="1645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Microsoft YaHei"/>
              </a:defRPr>
            </a:pPr>
            <a:r>
              <a:t>数据存储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286000"/>
            <a:ext cx="2103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900">
                <a:solidFill>
                  <a:srgbClr val="00E696"/>
                </a:solidFill>
                <a:latin typeface="Microsoft YaHei"/>
              </a:rPr>
              <a:t>●  </a:t>
            </a:r>
            <a:r>
              <a:rPr sz="1300">
                <a:solidFill>
                  <a:srgbClr val="B0B8D0"/>
                </a:solidFill>
                <a:latin typeface="Microsoft YaHei"/>
              </a:rPr>
              <a:t>MySQL 8.0：事务数据(用户/订单/库存/支付)</a:t>
            </a:r>
          </a:p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900">
                <a:solidFill>
                  <a:srgbClr val="00E696"/>
                </a:solidFill>
                <a:latin typeface="Microsoft YaHei"/>
              </a:rPr>
              <a:t>●  </a:t>
            </a:r>
            <a:r>
              <a:rPr sz="1300">
                <a:solidFill>
                  <a:srgbClr val="B0B8D0"/>
                </a:solidFill>
                <a:latin typeface="Microsoft YaHei"/>
              </a:rPr>
              <a:t>MongoDB 7.0：文档数据(图书/会话)</a:t>
            </a:r>
          </a:p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900">
                <a:solidFill>
                  <a:srgbClr val="00E696"/>
                </a:solidFill>
                <a:latin typeface="Microsoft YaHei"/>
              </a:rPr>
              <a:t>●  </a:t>
            </a:r>
            <a:r>
              <a:rPr sz="1300">
                <a:solidFill>
                  <a:srgbClr val="B0B8D0"/>
                </a:solidFill>
                <a:latin typeface="Microsoft YaHei"/>
              </a:rPr>
              <a:t>Redis 7：购物车 + 多级缓存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371600"/>
            <a:ext cx="2560320" cy="475488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98280" y="1371600"/>
            <a:ext cx="2560320" cy="50800"/>
          </a:xfrm>
          <a:prstGeom prst="rect">
            <a:avLst/>
          </a:prstGeom>
          <a:solidFill>
            <a:srgbClr val="FF9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1645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F43"/>
                </a:solidFill>
                <a:latin typeface="Microsoft YaHei"/>
              </a:defRPr>
            </a:pPr>
            <a:r>
              <a:t>搜索/消息/AI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286000"/>
            <a:ext cx="2103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900">
                <a:solidFill>
                  <a:srgbClr val="FF9F43"/>
                </a:solidFill>
                <a:latin typeface="Microsoft YaHei"/>
              </a:rPr>
              <a:t>●  </a:t>
            </a:r>
            <a:r>
              <a:rPr sz="1300">
                <a:solidFill>
                  <a:srgbClr val="B0B8D0"/>
                </a:solidFill>
                <a:latin typeface="Microsoft YaHei"/>
              </a:rPr>
              <a:t>Elasticsearch 8：图书全文检索</a:t>
            </a:r>
          </a:p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900">
                <a:solidFill>
                  <a:srgbClr val="FF9F43"/>
                </a:solidFill>
                <a:latin typeface="Microsoft YaHei"/>
              </a:rPr>
              <a:t>●  </a:t>
            </a:r>
            <a:r>
              <a:rPr sz="1300">
                <a:solidFill>
                  <a:srgbClr val="B0B8D0"/>
                </a:solidFill>
                <a:latin typeface="Microsoft YaHei"/>
              </a:rPr>
              <a:t>RabbitMQ：事件驱动异步解耦</a:t>
            </a:r>
          </a:p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900">
                <a:solidFill>
                  <a:srgbClr val="FF9F43"/>
                </a:solidFill>
                <a:latin typeface="Microsoft YaHei"/>
              </a:rPr>
              <a:t>●  </a:t>
            </a:r>
            <a:r>
              <a:rPr sz="1300">
                <a:solidFill>
                  <a:srgbClr val="B0B8D0"/>
                </a:solidFill>
                <a:latin typeface="Microsoft YaHei"/>
              </a:rPr>
              <a:t>Milvus 2.4 + OpenAI：AI智能推荐(创新)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07890"/>
                </a:solidFill>
                <a:latin typeface="Microsoft YaHei"/>
              </a:defRPr>
            </a:pPr>
            <a:r>
              <a:t>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02  系统架构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280160"/>
            <a:ext cx="9966960" cy="54864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1280160"/>
            <a:ext cx="50800" cy="548640"/>
          </a:xfrm>
          <a:prstGeom prst="rect">
            <a:avLst/>
          </a:prstGeom>
          <a:solidFill>
            <a:srgbClr val="8B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335024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83FF"/>
                </a:solidFill>
                <a:latin typeface="Microsoft YaHei"/>
              </a:defRPr>
            </a:pPr>
            <a:r>
              <a:t>客户端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335024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D0"/>
                </a:solidFill>
                <a:latin typeface="Microsoft YaHei"/>
              </a:defRPr>
            </a:pPr>
            <a:r>
              <a:t>Web / 移动端 /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1828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07890"/>
                </a:solidFill>
                <a:latin typeface="Microsoft YaHei"/>
              </a:defRPr>
            </a:pPr>
            <a:r>
              <a:t>▼ HTTP REST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2057400"/>
            <a:ext cx="9966960" cy="54864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" y="2057400"/>
            <a:ext cx="50800" cy="54864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112264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API 网关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112264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D0"/>
                </a:solidFill>
                <a:latin typeface="Microsoft YaHei"/>
              </a:defRPr>
            </a:pPr>
            <a:r>
              <a:t>Gin · JWT 鉴权 · 令牌桶限流 · 路由转发 · CORS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606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07890"/>
                </a:solidFill>
                <a:latin typeface="Microsoft YaHei"/>
              </a:defRPr>
            </a:pPr>
            <a:r>
              <a:t>▼ gRPC + Protobuf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8803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96"/>
                </a:solidFill>
                <a:latin typeface="Microsoft YaHei"/>
              </a:defRPr>
            </a:pPr>
            <a:r>
              <a:t>微服务层（go-micro · Consul 服务发现）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3154680"/>
            <a:ext cx="1115568" cy="105156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52144" y="32004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User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" y="35387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D0"/>
                </a:solidFill>
                <a:latin typeface="Microsoft YaHei"/>
              </a:defRPr>
            </a:pPr>
            <a:r>
              <a:t>用户/JWT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" y="384048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07890"/>
                </a:solidFill>
                <a:latin typeface="Microsoft YaHei"/>
              </a:defRPr>
            </a:pPr>
            <a:r>
              <a:t>:9001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59152" y="3154680"/>
            <a:ext cx="1115568" cy="105156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14016" y="32004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Book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14016" y="35387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D0"/>
                </a:solidFill>
                <a:latin typeface="Microsoft YaHei"/>
              </a:defRPr>
            </a:pPr>
            <a:r>
              <a:t>图书/检索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14016" y="384048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07890"/>
                </a:solidFill>
                <a:latin typeface="Microsoft YaHei"/>
              </a:defRPr>
            </a:pPr>
            <a:r>
              <a:t>:9003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21024" y="3154680"/>
            <a:ext cx="1115568" cy="105156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32004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Store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75888" y="35387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D0"/>
                </a:solidFill>
                <a:latin typeface="Microsoft YaHei"/>
              </a:defRPr>
            </a:pPr>
            <a:r>
              <a:t>门店/地理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75888" y="384048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07890"/>
                </a:solidFill>
                <a:latin typeface="Microsoft YaHei"/>
              </a:defRPr>
            </a:pPr>
            <a:r>
              <a:t>:9002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82896" y="3154680"/>
            <a:ext cx="1115568" cy="105156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37760" y="32004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Inventory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35387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D0"/>
                </a:solidFill>
                <a:latin typeface="Microsoft YaHei"/>
              </a:defRPr>
            </a:pPr>
            <a:r>
              <a:t>库存/锁定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384048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07890"/>
                </a:solidFill>
                <a:latin typeface="Microsoft YaHei"/>
              </a:defRPr>
            </a:pPr>
            <a:r>
              <a:t>:9004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44768" y="3154680"/>
            <a:ext cx="1115568" cy="105156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99632" y="32004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Cart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99632" y="35387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D0"/>
                </a:solidFill>
                <a:latin typeface="Microsoft YaHei"/>
              </a:defRPr>
            </a:pPr>
            <a:r>
              <a:t>购物车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99632" y="384048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07890"/>
                </a:solidFill>
                <a:latin typeface="Microsoft YaHei"/>
              </a:defRPr>
            </a:pPr>
            <a:r>
              <a:t>:9005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06640" y="3154680"/>
            <a:ext cx="1115568" cy="105156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61504" y="32004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Order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61504" y="35387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D0"/>
                </a:solidFill>
                <a:latin typeface="Microsoft YaHei"/>
              </a:defRPr>
            </a:pPr>
            <a:r>
              <a:t>订单/事件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61504" y="384048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07890"/>
                </a:solidFill>
                <a:latin typeface="Microsoft YaHei"/>
              </a:defRPr>
            </a:pPr>
            <a:r>
              <a:t>:9006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68511" y="3154680"/>
            <a:ext cx="1115568" cy="105156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23375" y="32004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Payment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23375" y="35387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D0"/>
                </a:solidFill>
                <a:latin typeface="Microsoft YaHei"/>
              </a:defRPr>
            </a:pPr>
            <a:r>
              <a:t>支付/退款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23375" y="384048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07890"/>
                </a:solidFill>
                <a:latin typeface="Microsoft YaHei"/>
              </a:defRPr>
            </a:pPr>
            <a:r>
              <a:t>:9007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930384" y="3154680"/>
            <a:ext cx="1115568" cy="105156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985248" y="32004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6B9D"/>
                </a:solidFill>
                <a:latin typeface="Microsoft YaHei"/>
              </a:defRPr>
            </a:pPr>
            <a:r>
              <a:t>AI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85248" y="35387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D0"/>
                </a:solidFill>
                <a:latin typeface="Microsoft YaHei"/>
              </a:defRPr>
            </a:pPr>
            <a:r>
              <a:t>推荐/对话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85248" y="384048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07890"/>
                </a:solidFill>
                <a:latin typeface="Microsoft YaHei"/>
              </a:defRPr>
            </a:pPr>
            <a:r>
              <a:t>:9008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03520" y="4251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07890"/>
                </a:solidFill>
                <a:latin typeface="Microsoft YaHei"/>
              </a:defRPr>
            </a:pPr>
            <a:r>
              <a:t>▼ 数据持久化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" y="4480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F43"/>
                </a:solidFill>
                <a:latin typeface="Microsoft YaHei"/>
              </a:defRPr>
            </a:pPr>
            <a:r>
              <a:t>基础设施层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97280" y="4754880"/>
            <a:ext cx="1298448" cy="77724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52144" y="479145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F43"/>
                </a:solidFill>
                <a:latin typeface="Microsoft YaHei"/>
              </a:defRPr>
            </a:pPr>
            <a:r>
              <a:t>MySQL 8.0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52144" y="51023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D0"/>
                </a:solidFill>
                <a:latin typeface="Microsoft YaHei"/>
              </a:defRPr>
            </a:pPr>
            <a:r>
              <a:t>用户/订单/库存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542032" y="4754880"/>
            <a:ext cx="1298448" cy="77724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596896" y="479145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F43"/>
                </a:solidFill>
                <a:latin typeface="Microsoft YaHei"/>
              </a:defRPr>
            </a:pPr>
            <a:r>
              <a:t>MongoDB 7.0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596896" y="51023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D0"/>
                </a:solidFill>
                <a:latin typeface="Microsoft YaHei"/>
              </a:defRPr>
            </a:pPr>
            <a:r>
              <a:t>图书/会话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986784" y="4754880"/>
            <a:ext cx="1298448" cy="77724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041648" y="479145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F43"/>
                </a:solidFill>
                <a:latin typeface="Microsoft YaHei"/>
              </a:defRPr>
            </a:pPr>
            <a:r>
              <a:t>Redis 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041648" y="51023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D0"/>
                </a:solidFill>
                <a:latin typeface="Microsoft YaHei"/>
              </a:defRPr>
            </a:pPr>
            <a:r>
              <a:t>购物车/缓存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431536" y="4754880"/>
            <a:ext cx="1298448" cy="77724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0" y="479145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F43"/>
                </a:solidFill>
                <a:latin typeface="Microsoft YaHei"/>
              </a:defRPr>
            </a:pPr>
            <a:r>
              <a:t>RabbitMQ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0" y="51023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D0"/>
                </a:solidFill>
                <a:latin typeface="Microsoft YaHei"/>
              </a:defRPr>
            </a:pPr>
            <a:r>
              <a:t>异步消息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876288" y="4754880"/>
            <a:ext cx="1298448" cy="77724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931152" y="479145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F43"/>
                </a:solidFill>
                <a:latin typeface="Microsoft YaHei"/>
              </a:defRPr>
            </a:pPr>
            <a:r>
              <a:t>ES 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31152" y="51023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D0"/>
                </a:solidFill>
                <a:latin typeface="Microsoft YaHei"/>
              </a:defRPr>
            </a:pPr>
            <a:r>
              <a:t>全文搜索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321040" y="4754880"/>
            <a:ext cx="1298448" cy="77724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375904" y="479145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F43"/>
                </a:solidFill>
                <a:latin typeface="Microsoft YaHei"/>
              </a:defRPr>
            </a:pPr>
            <a:r>
              <a:t>Milvus 2.4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75904" y="51023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D0"/>
                </a:solidFill>
                <a:latin typeface="Microsoft YaHei"/>
              </a:defRPr>
            </a:pPr>
            <a:r>
              <a:t>向量检索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765792" y="4754880"/>
            <a:ext cx="1298448" cy="77724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820656" y="479145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F43"/>
                </a:solidFill>
                <a:latin typeface="Microsoft YaHei"/>
              </a:defRPr>
            </a:pPr>
            <a:r>
              <a:t>Consul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820656" y="51023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D0"/>
                </a:solidFill>
                <a:latin typeface="Microsoft YaHei"/>
              </a:defRPr>
            </a:pPr>
            <a:r>
              <a:t>服务发现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097280" y="5715000"/>
            <a:ext cx="9966960" cy="50292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97280" y="5715000"/>
            <a:ext cx="50800" cy="502920"/>
          </a:xfrm>
          <a:prstGeom prst="rect">
            <a:avLst/>
          </a:prstGeom>
          <a:solidFill>
            <a:srgbClr val="FF6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371600" y="5760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9D"/>
                </a:solidFill>
                <a:latin typeface="Microsoft YaHei"/>
              </a:defRPr>
            </a:pPr>
            <a:r>
              <a:t>容器化部署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200400" y="5760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D0"/>
                </a:solidFill>
                <a:latin typeface="Microsoft YaHei"/>
              </a:defRPr>
            </a:pPr>
            <a:r>
              <a:t>Docker Compose 一键编排全部基础设施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07890"/>
                </a:solidFill>
                <a:latin typeface="Microsoft YaHei"/>
              </a:defRPr>
            </a:pPr>
            <a:r>
              <a:t>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03  核心业务流程与关键设计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2FF"/>
                </a:solidFill>
                <a:latin typeface="Microsoft YaHei"/>
              </a:defRPr>
            </a:pPr>
            <a:r>
              <a:t>⬥ 购书主流程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1371600" cy="68580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645920"/>
            <a:ext cx="1371600" cy="38100"/>
          </a:xfrm>
          <a:prstGeom prst="rect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5564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注册/登录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76479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07890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33472" y="1645920"/>
            <a:ext cx="1371600" cy="68580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33472" y="1645920"/>
            <a:ext cx="1371600" cy="3810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79192" y="175564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搜索图书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50792" y="176479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07890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43984" y="1645920"/>
            <a:ext cx="1371600" cy="68580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43984" y="1645920"/>
            <a:ext cx="1371600" cy="38100"/>
          </a:xfrm>
          <a:prstGeom prst="rect">
            <a:avLst/>
          </a:prstGeom>
          <a:solidFill>
            <a:srgbClr val="00E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9704" y="175564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查看详情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61304" y="176479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07890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54496" y="1645920"/>
            <a:ext cx="1371600" cy="68580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54496" y="1645920"/>
            <a:ext cx="1371600" cy="38100"/>
          </a:xfrm>
          <a:prstGeom prst="rect">
            <a:avLst/>
          </a:prstGeom>
          <a:solidFill>
            <a:srgbClr val="FF9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0216" y="175564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加入购物车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71816" y="176479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07890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65008" y="1645920"/>
            <a:ext cx="1371600" cy="68580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65008" y="1645920"/>
            <a:ext cx="1371600" cy="38100"/>
          </a:xfrm>
          <a:prstGeom prst="rect">
            <a:avLst/>
          </a:prstGeom>
          <a:solidFill>
            <a:srgbClr val="FF6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10728" y="175564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创建订单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82328" y="176479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07890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75520" y="1645920"/>
            <a:ext cx="1371600" cy="68580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875520" y="1645920"/>
            <a:ext cx="1371600" cy="38100"/>
          </a:xfrm>
          <a:prstGeom prst="rect">
            <a:avLst/>
          </a:prstGeom>
          <a:solidFill>
            <a:srgbClr val="FFD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21240" y="175564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完成支付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2651760"/>
            <a:ext cx="5120640" cy="3749039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27432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Microsoft YaHei"/>
              </a:defRPr>
            </a:pPr>
            <a:r>
              <a:t>⬥ 下单支付流程（事件驱动）</a:t>
            </a:r>
          </a:p>
        </p:txBody>
      </p:sp>
      <p:sp>
        <p:nvSpPr>
          <p:cNvPr id="30" name="Oval 29"/>
          <p:cNvSpPr/>
          <p:nvPr/>
        </p:nvSpPr>
        <p:spPr>
          <a:xfrm>
            <a:off x="1051560" y="3246120"/>
            <a:ext cx="292608" cy="292608"/>
          </a:xfrm>
          <a:prstGeom prst="ellipse">
            <a:avLst/>
          </a:prstGeom>
          <a:solidFill>
            <a:srgbClr val="00E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B1F3B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32644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用户提交订单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7520" y="32644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D0"/>
                </a:solidFill>
                <a:latin typeface="Microsoft YaHei"/>
              </a:defRPr>
            </a:pPr>
            <a:r>
              <a:t>Order 创建订单记录</a:t>
            </a:r>
          </a:p>
        </p:txBody>
      </p:sp>
      <p:sp>
        <p:nvSpPr>
          <p:cNvPr id="33" name="Oval 32"/>
          <p:cNvSpPr/>
          <p:nvPr/>
        </p:nvSpPr>
        <p:spPr>
          <a:xfrm>
            <a:off x="1051560" y="3840480"/>
            <a:ext cx="292608" cy="292608"/>
          </a:xfrm>
          <a:prstGeom prst="ellipse">
            <a:avLst/>
          </a:prstGeom>
          <a:solidFill>
            <a:srgbClr val="00E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B1F3B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385876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锁定库存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17520" y="38587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D0"/>
                </a:solidFill>
                <a:latin typeface="Microsoft YaHei"/>
              </a:defRPr>
            </a:pPr>
            <a:r>
              <a:t>Inventory.LockStock 防超卖</a:t>
            </a:r>
          </a:p>
        </p:txBody>
      </p:sp>
      <p:sp>
        <p:nvSpPr>
          <p:cNvPr id="36" name="Oval 35"/>
          <p:cNvSpPr/>
          <p:nvPr/>
        </p:nvSpPr>
        <p:spPr>
          <a:xfrm>
            <a:off x="1051560" y="4434840"/>
            <a:ext cx="292608" cy="292608"/>
          </a:xfrm>
          <a:prstGeom prst="ellipse">
            <a:avLst/>
          </a:prstGeom>
          <a:solidFill>
            <a:srgbClr val="00E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B1F3B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63040" y="44531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发起支付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17520" y="44531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D0"/>
                </a:solidFill>
                <a:latin typeface="Microsoft YaHei"/>
              </a:defRPr>
            </a:pPr>
            <a:r>
              <a:t>Payment 处理支付</a:t>
            </a:r>
          </a:p>
        </p:txBody>
      </p:sp>
      <p:sp>
        <p:nvSpPr>
          <p:cNvPr id="39" name="Oval 38"/>
          <p:cNvSpPr/>
          <p:nvPr/>
        </p:nvSpPr>
        <p:spPr>
          <a:xfrm>
            <a:off x="1051560" y="5029200"/>
            <a:ext cx="292608" cy="292608"/>
          </a:xfrm>
          <a:prstGeom prst="ellipse">
            <a:avLst/>
          </a:prstGeom>
          <a:solidFill>
            <a:srgbClr val="00E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B1F3B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63040" y="504748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发布支付事件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17520" y="50474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D0"/>
                </a:solidFill>
                <a:latin typeface="Microsoft YaHei"/>
              </a:defRPr>
            </a:pPr>
            <a:r>
              <a:t>Payment → MQ → payment.success</a:t>
            </a:r>
          </a:p>
        </p:txBody>
      </p:sp>
      <p:sp>
        <p:nvSpPr>
          <p:cNvPr id="42" name="Oval 41"/>
          <p:cNvSpPr/>
          <p:nvPr/>
        </p:nvSpPr>
        <p:spPr>
          <a:xfrm>
            <a:off x="1051560" y="5623560"/>
            <a:ext cx="292608" cy="292608"/>
          </a:xfrm>
          <a:prstGeom prst="ellipse">
            <a:avLst/>
          </a:prstGeom>
          <a:solidFill>
            <a:srgbClr val="00E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B1F3B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63040" y="56418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确认并扣减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17520" y="56418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D0"/>
                </a:solidFill>
                <a:latin typeface="Microsoft YaHei"/>
              </a:defRPr>
            </a:pPr>
            <a:r>
              <a:t>Order 消费事件 → DeductStock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09360" y="2651760"/>
            <a:ext cx="5120640" cy="3749039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0" y="27432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43"/>
                </a:solidFill>
                <a:latin typeface="Microsoft YaHei"/>
              </a:defRPr>
            </a:pPr>
            <a:r>
              <a:t>⬥ 关键技术设计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75120" y="3246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C63FF"/>
                </a:solidFill>
                <a:latin typeface="Microsoft YaHei"/>
              </a:defRPr>
            </a:pPr>
            <a:r>
              <a:t>库存防超卖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03920" y="3246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D0"/>
                </a:solidFill>
                <a:latin typeface="Microsoft YaHei"/>
              </a:defRPr>
            </a:pPr>
            <a:r>
              <a:t>Lock → Deduct 两阶段，取消时 Release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7512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事件驱动解耦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03920" y="3840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D0"/>
                </a:solidFill>
                <a:latin typeface="Microsoft YaHei"/>
              </a:defRPr>
            </a:pPr>
            <a:r>
              <a:t>RabbitMQ 异步：支付→订单→库存扣减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75120" y="4434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96"/>
                </a:solidFill>
                <a:latin typeface="Microsoft YaHei"/>
              </a:defRPr>
            </a:pPr>
            <a:r>
              <a:t>混合持久化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03920" y="4434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D0"/>
                </a:solidFill>
                <a:latin typeface="Microsoft YaHei"/>
              </a:defRPr>
            </a:pPr>
            <a:r>
              <a:t>按数据特征选型：MySQL / Mongo / Redis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75120" y="5029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F43"/>
                </a:solidFill>
                <a:latin typeface="Microsoft YaHei"/>
              </a:defRPr>
            </a:pPr>
            <a:r>
              <a:t>搜索降级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03920" y="5029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D0"/>
                </a:solidFill>
                <a:latin typeface="Microsoft YaHei"/>
              </a:defRPr>
            </a:pPr>
            <a:r>
              <a:t>ES 全文检索不可用时回退 MongoDB 查询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75120" y="5623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9D"/>
                </a:solidFill>
                <a:latin typeface="Microsoft YaHei"/>
              </a:defRPr>
            </a:pPr>
            <a:r>
              <a:t>地理查询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03920" y="5623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D0"/>
                </a:solidFill>
                <a:latin typeface="Microsoft YaHei"/>
              </a:defRPr>
            </a:pPr>
            <a:r>
              <a:t>MySQL ST_Distance_Sphere 附近门店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07890"/>
                </a:solidFill>
                <a:latin typeface="Microsoft YaHei"/>
              </a:defRPr>
            </a:pPr>
            <a:r>
              <a:t>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04  创新点：AI 智能推荐模块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087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Microsoft YaHei"/>
              </a:defRPr>
            </a:pPr>
            <a:r>
              <a:t>⬥ 多 Agent 协作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C63FF"/>
                </a:solidFill>
                <a:latin typeface="Microsoft YaHei"/>
              </a:defRPr>
            </a:pPr>
            <a:r>
              <a:t>Librarian 图书管理员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D0"/>
                </a:solidFill>
                <a:latin typeface="Microsoft YaHei"/>
              </a:defRPr>
            </a:pPr>
            <a:r>
              <a:t>对话式推荐，配备搜索/库存/加购等 6 个工具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07791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Microsoft YaHei"/>
              </a:defRPr>
            </a:pPr>
            <a:r>
              <a:t>Recommender 推荐师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82111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D0"/>
                </a:solidFill>
                <a:latin typeface="Microsoft YaHei"/>
              </a:defRPr>
            </a:pPr>
            <a:r>
              <a:t>RAG + 购买历史 → 结构化推荐列表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712463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F43"/>
                </a:solidFill>
                <a:latin typeface="Microsoft YaHei"/>
              </a:defRPr>
            </a:pPr>
            <a:r>
              <a:t>Summarizer 摘要师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86783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D0"/>
                </a:solidFill>
                <a:latin typeface="Microsoft YaHei"/>
              </a:defRPr>
            </a:pPr>
            <a:r>
              <a:t>生成书籍摘要/主题/目标读者分析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517136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SmartSearch 搜索师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79145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D0"/>
                </a:solidFill>
                <a:latin typeface="Microsoft YaHei"/>
              </a:defRPr>
            </a:pPr>
            <a:r>
              <a:t>自然语言 → 意图解析 → 精确搜索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321808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9D"/>
                </a:solidFill>
                <a:latin typeface="Microsoft YaHei"/>
              </a:defRPr>
            </a:pPr>
            <a:r>
              <a:t>TasteAnalyzer 偏好分析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5961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D0"/>
                </a:solidFill>
                <a:latin typeface="Microsoft YaHei"/>
              </a:defRPr>
            </a:pPr>
            <a:r>
              <a:t>购买历史 → 用户阅读偏好画像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371600"/>
            <a:ext cx="5120640" cy="493776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5087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Microsoft YaHei"/>
              </a:defRPr>
            </a:pPr>
            <a:r>
              <a:t>⬥ RAG 检索增强生成</a:t>
            </a:r>
          </a:p>
        </p:txBody>
      </p:sp>
      <p:sp>
        <p:nvSpPr>
          <p:cNvPr id="18" name="Oval 17"/>
          <p:cNvSpPr/>
          <p:nvPr/>
        </p:nvSpPr>
        <p:spPr>
          <a:xfrm>
            <a:off x="6675120" y="2148840"/>
            <a:ext cx="292608" cy="292608"/>
          </a:xfrm>
          <a:prstGeom prst="ellipse">
            <a:avLst/>
          </a:prstGeom>
          <a:solidFill>
            <a:srgbClr val="00E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B1F3B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213055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用户查询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213055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D0"/>
                </a:solidFill>
                <a:latin typeface="Microsoft YaHei"/>
              </a:defRPr>
            </a:pPr>
            <a:r>
              <a:t>接收自然语言问题</a:t>
            </a:r>
          </a:p>
        </p:txBody>
      </p:sp>
      <p:sp>
        <p:nvSpPr>
          <p:cNvPr id="21" name="Oval 20"/>
          <p:cNvSpPr/>
          <p:nvPr/>
        </p:nvSpPr>
        <p:spPr>
          <a:xfrm>
            <a:off x="6675120" y="2834640"/>
            <a:ext cx="292608" cy="292608"/>
          </a:xfrm>
          <a:prstGeom prst="ellipse">
            <a:avLst/>
          </a:prstGeom>
          <a:solidFill>
            <a:srgbClr val="00E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B1F3B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281635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向量化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281635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D0"/>
                </a:solidFill>
                <a:latin typeface="Microsoft YaHei"/>
              </a:defRPr>
            </a:pPr>
            <a:r>
              <a:t>text-embedding-3-small 编码</a:t>
            </a:r>
          </a:p>
        </p:txBody>
      </p:sp>
      <p:sp>
        <p:nvSpPr>
          <p:cNvPr id="24" name="Oval 23"/>
          <p:cNvSpPr/>
          <p:nvPr/>
        </p:nvSpPr>
        <p:spPr>
          <a:xfrm>
            <a:off x="6675120" y="3520440"/>
            <a:ext cx="292608" cy="292608"/>
          </a:xfrm>
          <a:prstGeom prst="ellipse">
            <a:avLst/>
          </a:prstGeom>
          <a:solidFill>
            <a:srgbClr val="00E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B1F3B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350215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语义检索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350215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D0"/>
                </a:solidFill>
                <a:latin typeface="Microsoft YaHei"/>
              </a:defRPr>
            </a:pPr>
            <a:r>
              <a:t>Milvus HNSW 近邻搜索</a:t>
            </a:r>
          </a:p>
        </p:txBody>
      </p:sp>
      <p:sp>
        <p:nvSpPr>
          <p:cNvPr id="27" name="Oval 26"/>
          <p:cNvSpPr/>
          <p:nvPr/>
        </p:nvSpPr>
        <p:spPr>
          <a:xfrm>
            <a:off x="6675120" y="4206240"/>
            <a:ext cx="292608" cy="292608"/>
          </a:xfrm>
          <a:prstGeom prst="ellipse">
            <a:avLst/>
          </a:prstGeom>
          <a:solidFill>
            <a:srgbClr val="00E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B1F3B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418795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库存增强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418795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D0"/>
                </a:solidFill>
                <a:latin typeface="Microsoft YaHei"/>
              </a:defRPr>
            </a:pPr>
            <a:r>
              <a:t>批量校验库存，标注可用性</a:t>
            </a:r>
          </a:p>
        </p:txBody>
      </p:sp>
      <p:sp>
        <p:nvSpPr>
          <p:cNvPr id="30" name="Oval 29"/>
          <p:cNvSpPr/>
          <p:nvPr/>
        </p:nvSpPr>
        <p:spPr>
          <a:xfrm>
            <a:off x="6675120" y="4892040"/>
            <a:ext cx="292608" cy="292608"/>
          </a:xfrm>
          <a:prstGeom prst="ellipse">
            <a:avLst/>
          </a:prstGeom>
          <a:solidFill>
            <a:srgbClr val="00E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B1F3B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487375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上下文注入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487375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D0"/>
                </a:solidFill>
                <a:latin typeface="Microsoft YaHei"/>
              </a:defRPr>
            </a:pPr>
            <a:r>
              <a:t>检索结果+会话历史 → Agent</a:t>
            </a:r>
          </a:p>
        </p:txBody>
      </p:sp>
      <p:sp>
        <p:nvSpPr>
          <p:cNvPr id="33" name="Oval 32"/>
          <p:cNvSpPr/>
          <p:nvPr/>
        </p:nvSpPr>
        <p:spPr>
          <a:xfrm>
            <a:off x="6675120" y="5577840"/>
            <a:ext cx="292608" cy="292608"/>
          </a:xfrm>
          <a:prstGeom prst="ellipse">
            <a:avLst/>
          </a:prstGeom>
          <a:solidFill>
            <a:srgbClr val="00E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B1F3B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555955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生成响应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555955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D0"/>
                </a:solidFill>
                <a:latin typeface="Microsoft YaHei"/>
              </a:defRPr>
            </a:pPr>
            <a:r>
              <a:t>GPT-4o 结合上下文回答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07890"/>
                </a:solidFill>
                <a:latin typeface="Microsoft YaHei"/>
              </a:defRPr>
            </a:pPr>
            <a:r>
              <a:t>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05  当前进展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502920"/>
          </a:xfrm>
          <a:prstGeom prst="roundRect">
            <a:avLst>
              <a:gd name="adj" fmla="val 5000"/>
            </a:avLst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447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模块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44475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已实现功能（Demo 阶段）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144475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当前状态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65960"/>
            <a:ext cx="10698480" cy="41148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65960"/>
            <a:ext cx="38100" cy="41148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2082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用户服务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020824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D0"/>
                </a:solidFill>
                <a:latin typeface="Microsoft YaHei"/>
              </a:defRPr>
            </a:pPr>
            <a:r>
              <a:t>注册、登录、JWT 鉴权、个人资料、地址管理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202082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C107"/>
                </a:solidFill>
                <a:latin typeface="Microsoft YaHei"/>
              </a:defRPr>
            </a:pPr>
            <a:r>
              <a:t>初步开发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423160"/>
            <a:ext cx="10698480" cy="411480"/>
          </a:xfrm>
          <a:prstGeom prst="roundRect">
            <a:avLst>
              <a:gd name="adj" fmla="val 5000"/>
            </a:avLst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423160"/>
            <a:ext cx="38100" cy="41148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47802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图书服务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478024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D0"/>
                </a:solidFill>
                <a:latin typeface="Microsoft YaHei"/>
              </a:defRPr>
            </a:pPr>
            <a:r>
              <a:t>MongoDB 存储、ES 全文搜索、分类、详情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247802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C107"/>
                </a:solidFill>
                <a:latin typeface="Microsoft YaHei"/>
              </a:defRPr>
            </a:pPr>
            <a:r>
              <a:t>初步开发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880360"/>
            <a:ext cx="10698480" cy="41148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2880360"/>
            <a:ext cx="38100" cy="41148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293522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门店服务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2935224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D0"/>
                </a:solidFill>
                <a:latin typeface="Microsoft YaHei"/>
              </a:defRPr>
            </a:pPr>
            <a:r>
              <a:t>门店 CRUD、地理查询（附近门店/半径搜索）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293522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C107"/>
                </a:solidFill>
                <a:latin typeface="Microsoft YaHei"/>
              </a:defRPr>
            </a:pPr>
            <a:r>
              <a:t>初步开发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337560"/>
            <a:ext cx="10698480" cy="411480"/>
          </a:xfrm>
          <a:prstGeom prst="roundRect">
            <a:avLst>
              <a:gd name="adj" fmla="val 5000"/>
            </a:avLst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3337560"/>
            <a:ext cx="38100" cy="41148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39242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库存服务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3392424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D0"/>
                </a:solidFill>
                <a:latin typeface="Microsoft YaHei"/>
              </a:defRPr>
            </a:pPr>
            <a:r>
              <a:t>库存查询、Lock/Deduct/Release 机制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339242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C107"/>
                </a:solidFill>
                <a:latin typeface="Microsoft YaHei"/>
              </a:defRPr>
            </a:pPr>
            <a:r>
              <a:t>初步开发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3794760"/>
            <a:ext cx="10698480" cy="41148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3794760"/>
            <a:ext cx="38100" cy="41148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384962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购物车服务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3849624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D0"/>
                </a:solidFill>
                <a:latin typeface="Microsoft YaHei"/>
              </a:defRPr>
            </a:pPr>
            <a:r>
              <a:t>Redis 购物车、库存校验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384962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C107"/>
                </a:solidFill>
                <a:latin typeface="Microsoft YaHei"/>
              </a:defRPr>
            </a:pPr>
            <a:r>
              <a:t>初步开发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4251960"/>
            <a:ext cx="10698480" cy="411480"/>
          </a:xfrm>
          <a:prstGeom prst="roundRect">
            <a:avLst>
              <a:gd name="adj" fmla="val 5000"/>
            </a:avLst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" y="4251960"/>
            <a:ext cx="38100" cy="41148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30682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订单服务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0" y="4306824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D0"/>
                </a:solidFill>
                <a:latin typeface="Microsoft YaHei"/>
              </a:defRPr>
            </a:pPr>
            <a:r>
              <a:t>创建/取消/状态流转、MQ 消费支付事件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430682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C107"/>
                </a:solidFill>
                <a:latin typeface="Microsoft YaHei"/>
              </a:defRPr>
            </a:pPr>
            <a:r>
              <a:t>初步开发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4709160"/>
            <a:ext cx="10698480" cy="41148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31520" y="4709160"/>
            <a:ext cx="38100" cy="41148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76402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支付服务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6080" y="4764024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D0"/>
                </a:solidFill>
                <a:latin typeface="Microsoft YaHei"/>
              </a:defRPr>
            </a:pPr>
            <a:r>
              <a:t>支付处理、事务控制、MQ 发布事件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0" y="476402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C107"/>
                </a:solidFill>
                <a:latin typeface="Microsoft YaHei"/>
              </a:defRPr>
            </a:pPr>
            <a:r>
              <a:t>初步开发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" y="5166360"/>
            <a:ext cx="10698480" cy="411480"/>
          </a:xfrm>
          <a:prstGeom prst="roundRect">
            <a:avLst>
              <a:gd name="adj" fmla="val 5000"/>
            </a:avLst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31520" y="5166360"/>
            <a:ext cx="38100" cy="41148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22122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AI 服务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26080" y="5221224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D0"/>
                </a:solidFill>
                <a:latin typeface="Microsoft YaHei"/>
              </a:defRPr>
            </a:pPr>
            <a:r>
              <a:t>多 Agent、RAG、向量搜索、对话推荐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26880" y="522122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C107"/>
                </a:solidFill>
                <a:latin typeface="Microsoft YaHei"/>
              </a:defRPr>
            </a:pPr>
            <a:r>
              <a:t>初步开发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1520" y="5623560"/>
            <a:ext cx="10698480" cy="41148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31520" y="5623560"/>
            <a:ext cx="38100" cy="41148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4400" y="567842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API 网关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26080" y="5678424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D0"/>
                </a:solidFill>
                <a:latin typeface="Microsoft YaHei"/>
              </a:defRPr>
            </a:pPr>
            <a:r>
              <a:t>Gin 路由、JWT 中间件、限流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26880" y="567842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C107"/>
                </a:solidFill>
                <a:latin typeface="Microsoft YaHei"/>
              </a:defRPr>
            </a:pPr>
            <a:r>
              <a:t>初步开发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6080760"/>
            <a:ext cx="10698480" cy="411480"/>
          </a:xfrm>
          <a:prstGeom prst="roundRect">
            <a:avLst>
              <a:gd name="adj" fmla="val 5000"/>
            </a:avLst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1520" y="6080760"/>
            <a:ext cx="38100" cy="41148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4400" y="613562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基础设施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26080" y="6135624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D0"/>
                </a:solidFill>
                <a:latin typeface="Microsoft YaHei"/>
              </a:defRPr>
            </a:pPr>
            <a:r>
              <a:t>Docker Compose 编排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26880" y="613562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C107"/>
                </a:solidFill>
                <a:latin typeface="Microsoft YaHei"/>
              </a:defRPr>
            </a:pPr>
            <a:r>
              <a:t>初步搭建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7890"/>
                </a:solidFill>
                <a:latin typeface="Microsoft YaHei"/>
              </a:defRPr>
            </a:pPr>
            <a:r>
              <a:t>* 以上模块均已完成初步开发，可运行基本流程，但尚未经过完整测试、性能验证和生产部署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07890"/>
                </a:solidFill>
                <a:latin typeface="Microsoft YaHei"/>
              </a:defRPr>
            </a:pPr>
            <a:r>
              <a:t>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06  待完成工作与后续计划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087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F43"/>
                </a:solidFill>
                <a:latin typeface="Microsoft YaHei"/>
              </a:defRPr>
            </a:pPr>
            <a:r>
              <a:t>⬥ 待完成工作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900">
                <a:solidFill>
                  <a:srgbClr val="FF9F43"/>
                </a:solidFill>
                <a:latin typeface="Microsoft YaHei"/>
              </a:rPr>
              <a:t>●  </a:t>
            </a:r>
            <a:r>
              <a:rPr sz="1400">
                <a:solidFill>
                  <a:srgbClr val="B0B8D0"/>
                </a:solidFill>
                <a:latin typeface="Microsoft YaHei"/>
              </a:rPr>
              <a:t>各服务功能完善与边界场景补全</a:t>
            </a:r>
          </a:p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900">
                <a:solidFill>
                  <a:srgbClr val="FF9F43"/>
                </a:solidFill>
                <a:latin typeface="Microsoft YaHei"/>
              </a:rPr>
              <a:t>●  </a:t>
            </a:r>
            <a:r>
              <a:rPr sz="1400">
                <a:solidFill>
                  <a:srgbClr val="B0B8D0"/>
                </a:solidFill>
                <a:latin typeface="Microsoft YaHei"/>
              </a:rPr>
              <a:t>前端页面开发（Web 端用户界面）</a:t>
            </a:r>
          </a:p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900">
                <a:solidFill>
                  <a:srgbClr val="FF9F43"/>
                </a:solidFill>
                <a:latin typeface="Microsoft YaHei"/>
              </a:rPr>
              <a:t>●  </a:t>
            </a:r>
            <a:r>
              <a:rPr sz="1400">
                <a:solidFill>
                  <a:srgbClr val="B0B8D0"/>
                </a:solidFill>
                <a:latin typeface="Microsoft YaHei"/>
              </a:rPr>
              <a:t>服务间联调与端到端集成测试</a:t>
            </a:r>
          </a:p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900">
                <a:solidFill>
                  <a:srgbClr val="FF9F43"/>
                </a:solidFill>
                <a:latin typeface="Microsoft YaHei"/>
              </a:rPr>
              <a:t>●  </a:t>
            </a:r>
            <a:r>
              <a:rPr sz="1400">
                <a:solidFill>
                  <a:srgbClr val="B0B8D0"/>
                </a:solidFill>
                <a:latin typeface="Microsoft YaHei"/>
              </a:rPr>
              <a:t>单元测试与接口测试覆盖</a:t>
            </a:r>
          </a:p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900">
                <a:solidFill>
                  <a:srgbClr val="FF9F43"/>
                </a:solidFill>
                <a:latin typeface="Microsoft YaHei"/>
              </a:rPr>
              <a:t>●  </a:t>
            </a:r>
            <a:r>
              <a:rPr sz="1400">
                <a:solidFill>
                  <a:srgbClr val="B0B8D0"/>
                </a:solidFill>
                <a:latin typeface="Microsoft YaHei"/>
              </a:rPr>
              <a:t>性能压测与瓶颈优化（高并发场景）</a:t>
            </a:r>
          </a:p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900">
                <a:solidFill>
                  <a:srgbClr val="FF9F43"/>
                </a:solidFill>
                <a:latin typeface="Microsoft YaHei"/>
              </a:rPr>
              <a:t>●  </a:t>
            </a:r>
            <a:r>
              <a:rPr sz="1400">
                <a:solidFill>
                  <a:srgbClr val="B0B8D0"/>
                </a:solidFill>
                <a:latin typeface="Microsoft YaHei"/>
              </a:rPr>
              <a:t>系统安全加固（参数校验、注入防护等）</a:t>
            </a:r>
          </a:p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900">
                <a:solidFill>
                  <a:srgbClr val="FF9F43"/>
                </a:solidFill>
                <a:latin typeface="Microsoft YaHei"/>
              </a:rPr>
              <a:t>●  </a:t>
            </a:r>
            <a:r>
              <a:rPr sz="1400">
                <a:solidFill>
                  <a:srgbClr val="B0B8D0"/>
                </a:solidFill>
                <a:latin typeface="Microsoft YaHei"/>
              </a:rPr>
              <a:t>生产环境部署与运维方案</a:t>
            </a:r>
          </a:p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900">
                <a:solidFill>
                  <a:srgbClr val="FF9F43"/>
                </a:solidFill>
                <a:latin typeface="Microsoft YaHei"/>
              </a:rPr>
              <a:t>●  </a:t>
            </a:r>
            <a:r>
              <a:rPr sz="1400">
                <a:solidFill>
                  <a:srgbClr val="B0B8D0"/>
                </a:solidFill>
                <a:latin typeface="Microsoft YaHei"/>
              </a:rPr>
              <a:t>毕业论文撰写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120640" cy="493776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5087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Microsoft YaHei"/>
              </a:defRPr>
            </a:pPr>
            <a:r>
              <a:t>⬥ 后续计划</a:t>
            </a:r>
          </a:p>
        </p:txBody>
      </p:sp>
      <p:sp>
        <p:nvSpPr>
          <p:cNvPr id="9" name="Oval 8"/>
          <p:cNvSpPr/>
          <p:nvPr/>
        </p:nvSpPr>
        <p:spPr>
          <a:xfrm>
            <a:off x="6675120" y="2148840"/>
            <a:ext cx="292608" cy="292608"/>
          </a:xfrm>
          <a:prstGeom prst="ellipse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B1F3B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13055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C63FF"/>
                </a:solidFill>
                <a:latin typeface="Microsoft YaHei"/>
              </a:defRPr>
            </a:pPr>
            <a:r>
              <a:t>3月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1305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D0"/>
                </a:solidFill>
                <a:latin typeface="Microsoft YaHei"/>
              </a:defRPr>
            </a:pPr>
            <a:r>
              <a:t>功能完善，补全各服务边界逻辑</a:t>
            </a:r>
          </a:p>
        </p:txBody>
      </p:sp>
      <p:sp>
        <p:nvSpPr>
          <p:cNvPr id="12" name="Oval 11"/>
          <p:cNvSpPr/>
          <p:nvPr/>
        </p:nvSpPr>
        <p:spPr>
          <a:xfrm>
            <a:off x="6675120" y="2862072"/>
            <a:ext cx="292608" cy="292608"/>
          </a:xfrm>
          <a:prstGeom prst="ellipse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B1F3B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84378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3~4月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84378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D0"/>
                </a:solidFill>
                <a:latin typeface="Microsoft YaHei"/>
              </a:defRPr>
            </a:pPr>
            <a:r>
              <a:t>前端开发与服务联调</a:t>
            </a:r>
          </a:p>
        </p:txBody>
      </p:sp>
      <p:sp>
        <p:nvSpPr>
          <p:cNvPr id="15" name="Oval 14"/>
          <p:cNvSpPr/>
          <p:nvPr/>
        </p:nvSpPr>
        <p:spPr>
          <a:xfrm>
            <a:off x="6675120" y="3575304"/>
            <a:ext cx="292608" cy="292608"/>
          </a:xfrm>
          <a:prstGeom prst="ellipse">
            <a:avLst/>
          </a:prstGeom>
          <a:solidFill>
            <a:srgbClr val="00E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B1F3B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355701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Microsoft YaHei"/>
              </a:defRPr>
            </a:pPr>
            <a:r>
              <a:t>4月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55701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D0"/>
                </a:solidFill>
                <a:latin typeface="Microsoft YaHei"/>
              </a:defRPr>
            </a:pPr>
            <a:r>
              <a:t>单元测试、集成测试</a:t>
            </a:r>
          </a:p>
        </p:txBody>
      </p:sp>
      <p:sp>
        <p:nvSpPr>
          <p:cNvPr id="18" name="Oval 17"/>
          <p:cNvSpPr/>
          <p:nvPr/>
        </p:nvSpPr>
        <p:spPr>
          <a:xfrm>
            <a:off x="6675120" y="4288536"/>
            <a:ext cx="292608" cy="292608"/>
          </a:xfrm>
          <a:prstGeom prst="ellipse">
            <a:avLst/>
          </a:prstGeom>
          <a:solidFill>
            <a:srgbClr val="FF9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B1F3B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427024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F43"/>
                </a:solidFill>
                <a:latin typeface="Microsoft YaHei"/>
              </a:defRPr>
            </a:pPr>
            <a:r>
              <a:t>4~5月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2702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D0"/>
                </a:solidFill>
                <a:latin typeface="Microsoft YaHei"/>
              </a:defRPr>
            </a:pPr>
            <a:r>
              <a:t>性能压测、安全加固、部署上线</a:t>
            </a:r>
          </a:p>
        </p:txBody>
      </p:sp>
      <p:sp>
        <p:nvSpPr>
          <p:cNvPr id="21" name="Oval 20"/>
          <p:cNvSpPr/>
          <p:nvPr/>
        </p:nvSpPr>
        <p:spPr>
          <a:xfrm>
            <a:off x="6675120" y="5001768"/>
            <a:ext cx="292608" cy="292608"/>
          </a:xfrm>
          <a:prstGeom prst="ellipse">
            <a:avLst/>
          </a:prstGeom>
          <a:solidFill>
            <a:srgbClr val="FF6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B1F3B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4983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9D"/>
                </a:solidFill>
                <a:latin typeface="Microsoft YaHei"/>
              </a:defRPr>
            </a:pPr>
            <a:r>
              <a:t>5月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983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D0"/>
                </a:solidFill>
                <a:latin typeface="Microsoft YaHei"/>
              </a:defRPr>
            </a:pPr>
            <a:r>
              <a:t>毕业论文初稿撰写</a:t>
            </a:r>
          </a:p>
        </p:txBody>
      </p:sp>
      <p:sp>
        <p:nvSpPr>
          <p:cNvPr id="24" name="Oval 23"/>
          <p:cNvSpPr/>
          <p:nvPr/>
        </p:nvSpPr>
        <p:spPr>
          <a:xfrm>
            <a:off x="6675120" y="5715000"/>
            <a:ext cx="292608" cy="292608"/>
          </a:xfrm>
          <a:prstGeom prst="ellipse">
            <a:avLst/>
          </a:prstGeom>
          <a:solidFill>
            <a:srgbClr val="8B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B1F3B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569671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83FF"/>
                </a:solidFill>
                <a:latin typeface="Microsoft YaHei"/>
              </a:defRPr>
            </a:pPr>
            <a:r>
              <a:t>5~6月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56967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D0"/>
                </a:solidFill>
                <a:latin typeface="Microsoft YaHei"/>
              </a:defRPr>
            </a:pPr>
            <a:r>
              <a:t>论文修改完善与答辩准备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07890"/>
                </a:solidFill>
                <a:latin typeface="Microsoft YaHei"/>
              </a:defRPr>
            </a:pPr>
            <a:r>
              <a:t>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0" y="2560320"/>
            <a:ext cx="2651760" cy="38100"/>
          </a:xfrm>
          <a:prstGeom prst="rect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谢谢各位老师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0B8D0"/>
                </a:solidFill>
                <a:latin typeface="Microsoft YaHei"/>
              </a:defRPr>
            </a:pPr>
            <a:r>
              <a:t>请批评指正！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07890"/>
                </a:solidFill>
                <a:latin typeface="Microsoft YaHei"/>
              </a:defRPr>
            </a:pPr>
            <a:r>
              <a:t>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